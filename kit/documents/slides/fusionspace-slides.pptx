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Predicted</c:v>
                </c:pt>
              </c:strCache>
            </c:strRef>
          </c:tx>
          <c:spPr>
            <a:solidFill>
              <a:srgbClr val="3350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Flight 1</c:v>
                  </c:pt>
                  <c:pt idx="1">
                    <c:v>Flight 2</c:v>
                  </c:pt>
                  <c:pt idx="2">
                    <c:v>Flight 3</c:v>
                  </c:pt>
                  <c:pt idx="3">
                    <c:v>Flight 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1520</c:v>
                </c:pt>
                <c:pt idx="1">
                  <c:v>1780</c:v>
                </c:pt>
                <c:pt idx="2">
                  <c:v>2210</c:v>
                </c:pt>
                <c:pt idx="3">
                  <c:v>2450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Measured</c:v>
                </c:pt>
              </c:strCache>
            </c:strRef>
          </c:tx>
          <c:spPr>
            <a:solidFill>
              <a:srgbClr val="DA7C3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Flight 1</c:v>
                  </c:pt>
                  <c:pt idx="1">
                    <c:v>Flight 2</c:v>
                  </c:pt>
                  <c:pt idx="2">
                    <c:v>Flight 3</c:v>
                  </c:pt>
                  <c:pt idx="3">
                    <c:v>Flight 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1475</c:v>
                </c:pt>
                <c:pt idx="1">
                  <c:v>1810</c:v>
                </c:pt>
                <c:pt idx="2">
                  <c:v>2105</c:v>
                </c:pt>
                <c:pt idx="3">
                  <c:v>2390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66079"/>
                </a:solidFill>
                <a:latin typeface="Cascadia Mon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6DAE4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66079"/>
                    </a:solidFill>
                    <a:latin typeface="Archivo"/>
                  </a:defRPr>
                </a:pPr>
                <a:r>
                  <a:rPr sz="1200" b="0" i="0" u="none" strike="noStrike">
                    <a:solidFill>
                      <a:srgbClr val="566079"/>
                    </a:solidFill>
                    <a:latin typeface="Archivo"/>
                  </a:rPr>
                  <a:t>Apogee (m)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66079"/>
                </a:solidFill>
                <a:latin typeface="Cascadia Mon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400">
              <a:solidFill>
                <a:srgbClr val="0B0F1C"/>
              </a:solidFill>
              <a:latin typeface="Archivo"/>
              <a:cs typeface="Archivo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layout. Replace the designation, title, subtitle and date. The mark on the right is optional.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Agenda: up to five items. The numbers are Cascadia Mono in 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Chart colours: Ion and M orange on light. Edit the data in PowerPoint (right-click → Edit Data).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Timeline: five milestones; the dots step along the Fusion gradient.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Code: Cascadia Mono on Abyss. Paste code as plain text and keep it under about 12 lines.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Quote or key statement: one sentence, set large.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FS-Title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FS-Section-image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image" Target="../media/FS-Content-image-2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image" Target="../media/FS-Two-Column-image-2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FS-Closing-image-1.pn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7-1.png"/><Relationship Id="rId2" Type="http://schemas.openxmlformats.org/officeDocument/2006/relationships/image" Target="../media/FS-Image-image-2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FS-Full-Image-image-1.png"/><Relationship Id="rId2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9-1.png"/><Relationship Id="rId2" Type="http://schemas.openxmlformats.org/officeDocument/2006/relationships/image" Target="../media/FS-Dark-Content-image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S Titl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S Sec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55080"/>
            <a:ext cx="1234440" cy="208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99655" y="6309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8A1B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FS-VEGA · REV A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228600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rgbClr val="768D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defRPr>
            </a:lvl1pPr>
          </a:lstStyle>
          <a:p>
            <a:pPr indent="0" marL="0">
              <a:buNone/>
            </a:pPr>
            <a:r>
              <a:rPr lang="en-US" sz="1400" dirty="0">
                <a:solidFill>
                  <a:srgbClr val="768D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SECTION 01</a:t>
            </a:r>
            <a:endParaRPr lang="en-US" sz="14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548640" y="2743200"/>
            <a:ext cx="105156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3F4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400" b="1" dirty="0">
                <a:solidFill>
                  <a:srgbClr val="F3F4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Section title</a:t>
            </a:r>
            <a:endParaRPr lang="en-US" sz="4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093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8A1B8"/>
                </a:solidFill>
                <a:latin typeface="Cascadia Mono"/>
                <a:ea typeface="Cascadia Mono"/>
                <a:cs typeface="Cascadia Mon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S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55080"/>
            <a:ext cx="1234440" cy="208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99655" y="6309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079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FS-VEGA · REV A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0B0F1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rgbClr val="0B0F1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Slide title</a:t>
            </a:r>
            <a:endParaRPr lang="en-US" sz="30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548640" y="1417320"/>
            <a:ext cx="10972800" cy="4480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0B0F1C"/>
                </a:solidFill>
                <a:latin typeface="Archivo" pitchFamily="34" charset="0"/>
                <a:ea typeface="Archivo" pitchFamily="34" charset="-122"/>
                <a:cs typeface="Archiv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000" dirty="0">
                <a:solidFill>
                  <a:srgbClr val="0B0F1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Body text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093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079"/>
                </a:solidFill>
                <a:latin typeface="Cascadia Mono"/>
                <a:ea typeface="Cascadia Mono"/>
                <a:cs typeface="Cascadia Mono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S Two Colum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55080"/>
            <a:ext cx="1234440" cy="208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99655" y="6309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079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FS-VEGA · REV A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0B0F1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rgbClr val="0B0F1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Slide title</a:t>
            </a:r>
            <a:endParaRPr lang="en-US" sz="30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548640" y="1417320"/>
            <a:ext cx="5303520" cy="4480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0B0F1C"/>
                </a:solidFill>
                <a:latin typeface="Archivo" pitchFamily="34" charset="0"/>
                <a:ea typeface="Archivo" pitchFamily="34" charset="-122"/>
                <a:cs typeface="Archiv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000" dirty="0">
                <a:solidFill>
                  <a:srgbClr val="0B0F1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Left column</a:t>
            </a:r>
            <a:endParaRPr lang="en-US" sz="20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6309360" y="1417320"/>
            <a:ext cx="5303520" cy="4480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0B0F1C"/>
                </a:solidFill>
                <a:latin typeface="Archivo" pitchFamily="34" charset="0"/>
                <a:ea typeface="Archivo" pitchFamily="34" charset="-122"/>
                <a:cs typeface="Archiv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000" dirty="0">
                <a:solidFill>
                  <a:srgbClr val="0B0F1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Right column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093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079"/>
                </a:solidFill>
                <a:latin typeface="Cascadia Mono"/>
                <a:ea typeface="Cascadia Mono"/>
                <a:cs typeface="Cascadia Mono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S Closing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S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55080"/>
            <a:ext cx="1234440" cy="208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99655" y="6309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079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FS-VEGA · REV A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0B0F1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rgbClr val="0B0F1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Slide title</a:t>
            </a:r>
            <a:endParaRPr lang="en-US" sz="3000" dirty="0"/>
          </a:p>
        </p:txBody>
      </p:sp>
      <p:sp>
        <p:nvSpPr>
          <p:cNvPr id="5" name="Text 1"/>
          <p:cNvSpPr/>
          <p:nvPr>
            <p:ph idx="103" hasCustomPrompt="1"/>
          </p:nvPr>
        </p:nvSpPr>
        <p:spPr>
          <a:xfrm>
            <a:off x="548640" y="1417320"/>
            <a:ext cx="7315200" cy="4114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8229600" y="1417320"/>
            <a:ext cx="3291840" cy="4114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rgbClr val="566079"/>
                </a:solidFill>
                <a:latin typeface="Archivo" pitchFamily="34" charset="0"/>
                <a:ea typeface="Archivo" pitchFamily="34" charset="-122"/>
                <a:cs typeface="Archiv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dirty="0">
                <a:solidFill>
                  <a:srgbClr val="56607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Caption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093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079"/>
                </a:solidFill>
                <a:latin typeface="Cascadia Mono"/>
                <a:ea typeface="Cascadia Mono"/>
                <a:cs typeface="Cascadia Mono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S Full Imag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hasCustomPrompt="1"/>
          </p:nvPr>
        </p:nvSpPr>
        <p:spPr>
          <a:xfrm>
            <a:off x="0" y="0"/>
            <a:ext cx="12191695" cy="685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Shape 0"/>
          <p:cNvSpPr/>
          <p:nvPr/>
        </p:nvSpPr>
        <p:spPr>
          <a:xfrm>
            <a:off x="0" y="5440680"/>
            <a:ext cx="12191695" cy="1417320"/>
          </a:xfrm>
          <a:prstGeom prst="rect">
            <a:avLst/>
          </a:prstGeom>
          <a:solidFill>
            <a:srgbClr val="0B0F1C">
              <a:alpha val="85000"/>
            </a:srgbClr>
          </a:solidFill>
          <a:ln/>
        </p:spPr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5623560"/>
            <a:ext cx="91440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F3F4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600" b="1" dirty="0">
                <a:solidFill>
                  <a:srgbClr val="F3F4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Image title</a:t>
            </a:r>
            <a:endParaRPr lang="en-US" sz="26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548640" y="6199632"/>
            <a:ext cx="91440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rgbClr val="98A1B8"/>
                </a:solidFill>
                <a:latin typeface="Archivo" pitchFamily="34" charset="0"/>
                <a:ea typeface="Archivo" pitchFamily="34" charset="-122"/>
                <a:cs typeface="Archiv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400" dirty="0">
                <a:solidFill>
                  <a:srgbClr val="98A1B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Caption or credit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093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8A1B8"/>
                </a:solidFill>
                <a:latin typeface="Cascadia Mono"/>
                <a:ea typeface="Cascadia Mono"/>
                <a:cs typeface="Cascadia Mono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S Dark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55080"/>
            <a:ext cx="1234440" cy="208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99655" y="6309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8A1B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FS-VEGA · REV A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F3F4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rgbClr val="F3F4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Slide title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093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8A1B8"/>
                </a:solidFill>
                <a:latin typeface="Cascadia Mono"/>
                <a:ea typeface="Cascadia Mono"/>
                <a:cs typeface="Cascadia Mono"/>
              </a:defRPr>
            </a:lvl1pPr>
          </a:lstStyle>
          <a:p>
            <a:pPr algn="r"/>
            <a:fld id="{F7021451-1387-4CA6-816F-3879F97B5CBC}" type="slidenum">
              <a:rPr b="0" lang="en-US"/>
              <a:t>1009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093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8A1B8"/>
                </a:solidFill>
                <a:latin typeface="Cascadia Mono"/>
                <a:ea typeface="Cascadia Mono"/>
                <a:cs typeface="Cascadia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2377440" cy="401595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2743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768D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FS-VEGA · DESIGN REVIEW · REV A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31546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F3F4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Presentation title</a:t>
            </a:r>
            <a:endParaRPr lang="en-US" sz="5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297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8A1B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Subtitle or one-line summary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989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8A1B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Neer Patel · October 2026</a:t>
            </a:r>
            <a:endParaRPr lang="en-US" sz="12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5455" y="1280160"/>
            <a:ext cx="356616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0F1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0876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350D6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01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1508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B0F1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Mission overview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463040" y="2167128"/>
            <a:ext cx="7315200" cy="0"/>
          </a:xfrm>
          <a:prstGeom prst="line">
            <a:avLst/>
          </a:prstGeom>
          <a:noFill/>
          <a:ln w="12700">
            <a:solidFill>
              <a:srgbClr val="D6DAE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2860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350D6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02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2860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B0F1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Design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463040" y="2944368"/>
            <a:ext cx="7315200" cy="0"/>
          </a:xfrm>
          <a:prstGeom prst="line">
            <a:avLst/>
          </a:prstGeom>
          <a:noFill/>
          <a:ln w="12700">
            <a:solidFill>
              <a:srgbClr val="D6DAE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0632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350D6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03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30632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B0F1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Test results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1463040" y="3721608"/>
            <a:ext cx="7315200" cy="0"/>
          </a:xfrm>
          <a:prstGeom prst="line">
            <a:avLst/>
          </a:prstGeom>
          <a:noFill/>
          <a:ln w="12700">
            <a:solidFill>
              <a:srgbClr val="D6DAE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84048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350D6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04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3840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B0F1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Risks and open items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1463040" y="4498848"/>
            <a:ext cx="7315200" cy="0"/>
          </a:xfrm>
          <a:prstGeom prst="line">
            <a:avLst/>
          </a:prstGeom>
          <a:noFill/>
          <a:ln w="12700">
            <a:solidFill>
              <a:srgbClr val="D6DAE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461772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350D6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05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46177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B0F1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Next steps</a:t>
            </a:r>
            <a:endParaRPr lang="en-US" sz="2200" dirty="0"/>
          </a:p>
        </p:txBody>
      </p:sp>
      <p:sp>
        <p:nvSpPr>
          <p:cNvPr id="18" name="Text 1"/>
          <p:cNvSpPr/>
          <p:nvPr>
            <p:ph idx="103" type="body" hasCustomPrompt="1"/>
          </p:nvPr>
        </p:nvSpPr>
        <p:spPr>
          <a:xfrm>
            <a:off x="548640" y="1417320"/>
            <a:ext cx="109728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093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079"/>
                </a:solidFill>
                <a:latin typeface="Cascadia Mono"/>
                <a:ea typeface="Cascadia Mono"/>
                <a:cs typeface="Cascadia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2286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dirty="0">
                <a:solidFill>
                  <a:srgbClr val="768D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SECTION 01</a:t>
            </a:r>
            <a:endParaRPr lang="en-US" sz="14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27432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3F4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Mission overview</a:t>
            </a:r>
            <a:endParaRPr lang="en-US" sz="4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093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8A1B8"/>
                </a:solidFill>
                <a:latin typeface="Cascadia Mono"/>
                <a:ea typeface="Cascadia Mono"/>
                <a:cs typeface="Cascadia Mon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0F1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Content slide title</a:t>
            </a:r>
            <a:endParaRPr lang="en-US" sz="30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1417320"/>
            <a:ext cx="109728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0B0F1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Use this layout for most content. Headings are Cascadia Mono SemiBold, body text is Archivo.</a:t>
            </a:r>
            <a:endParaRPr lang="en-US" sz="20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0B0F1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Keep one idea per slide; put detail in the speaker notes.</a:t>
            </a:r>
            <a:endParaRPr lang="en-US" sz="20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0B0F1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Accent colours on light backgrounds: Ion #3350D6 for links and highlights, Ember #B34F0C for warnings.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093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079"/>
                </a:solidFill>
                <a:latin typeface="Cascadia Mono"/>
                <a:ea typeface="Cascadia Mono"/>
                <a:cs typeface="Cascadia Mon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0F1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Two-column slide</a:t>
            </a:r>
            <a:endParaRPr lang="en-US" sz="30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1417320"/>
            <a:ext cx="53035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B0F1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Requirement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0B0F1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Left column text, a figure, or a table.</a:t>
            </a:r>
            <a:endParaRPr lang="en-US" sz="20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6309360" y="1417320"/>
            <a:ext cx="53035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B0F1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Result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0B0F1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Right column text, a chart, or an image.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093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079"/>
                </a:solidFill>
                <a:latin typeface="Cascadia Mono"/>
                <a:ea typeface="Cascadia Mono"/>
                <a:cs typeface="Cascadia Mono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0F1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Image and caption</a:t>
            </a:r>
            <a:endParaRPr lang="en-US" sz="3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>
            <p:ph idx="103" hasCustomPrompt="1"/>
          </p:nvPr>
        </p:nvPicPr>
        <p:blipFill>
          <a:blip r:embed="rId1"/>
          <a:stretch>
            <a:fillRect/>
          </a:stretch>
        </p:blipFill>
        <p:spPr>
          <a:xfrm>
            <a:off x="548640" y="1417320"/>
            <a:ext cx="7315200" cy="4114800"/>
          </a:xfrm>
          <a:prstGeom prst="rect">
            <a:avLst/>
          </a:prstGeom>
        </p:spPr>
      </p:pic>
      <p:sp>
        <p:nvSpPr>
          <p:cNvPr id="4" name="Text 1"/>
          <p:cNvSpPr/>
          <p:nvPr>
            <p:ph idx="104" type="body" hasCustomPrompt="1"/>
          </p:nvPr>
        </p:nvSpPr>
        <p:spPr>
          <a:xfrm>
            <a:off x="8229600" y="1417320"/>
            <a:ext cx="32918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0F1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Figure 1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56607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What the image shows and why it matters. Right-click the picture → Change Picture to use your own.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093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079"/>
                </a:solidFill>
                <a:latin typeface="Cascadia Mono"/>
                <a:ea typeface="Cascadia Mono"/>
                <a:cs typeface="Cascadia Mono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>
            <p:ph idx="100" hasCustomPrompt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56235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3F4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Full-bleed image</a:t>
            </a:r>
            <a:endParaRPr lang="en-US" sz="26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548640" y="619963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98A1B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Static fire, test stand 2 · photo credit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093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8A1B8"/>
                </a:solidFill>
                <a:latin typeface="Cascadia Mono"/>
                <a:ea typeface="Cascadia Mono"/>
                <a:cs typeface="Cascadia Mono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0F1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Table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2468880"/>
                <a:gridCol w="2468880"/>
                <a:gridCol w="24688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3F4F7"/>
                          </a:solidFill>
                          <a:latin typeface="Cascadia Mono" pitchFamily="34" charset="0"/>
                          <a:ea typeface="Cascadia Mono" pitchFamily="34" charset="-122"/>
                          <a:cs typeface="Cascadia Mono" pitchFamily="34" charset="-120"/>
                        </a:rPr>
                        <a:t>Parameter</a:t>
                      </a:r>
                      <a:endParaRPr lang="en-US" sz="1400" dirty="0">
                        <a:latin typeface="Cascadia Mono" charset="0"/>
                        <a:ea typeface="Cascadia Mono" charset="0"/>
                        <a:cs typeface="Cascadia Mono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6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3F4F7"/>
                          </a:solidFill>
                          <a:latin typeface="Cascadia Mono" pitchFamily="34" charset="0"/>
                          <a:ea typeface="Cascadia Mono" pitchFamily="34" charset="-122"/>
                          <a:cs typeface="Cascadia Mono" pitchFamily="34" charset="-120"/>
                        </a:rPr>
                        <a:t>Target</a:t>
                      </a:r>
                      <a:endParaRPr lang="en-US" sz="1400" dirty="0">
                        <a:latin typeface="Cascadia Mono" charset="0"/>
                        <a:ea typeface="Cascadia Mono" charset="0"/>
                        <a:cs typeface="Cascadia Mono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6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3F4F7"/>
                          </a:solidFill>
                          <a:latin typeface="Cascadia Mono" pitchFamily="34" charset="0"/>
                          <a:ea typeface="Cascadia Mono" pitchFamily="34" charset="-122"/>
                          <a:cs typeface="Cascadia Mono" pitchFamily="34" charset="-120"/>
                        </a:rPr>
                        <a:t>Measured</a:t>
                      </a:r>
                      <a:endParaRPr lang="en-US" sz="1400" dirty="0">
                        <a:latin typeface="Cascadia Mono" charset="0"/>
                        <a:ea typeface="Cascadia Mono" charset="0"/>
                        <a:cs typeface="Cascadia Mono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6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3F4F7"/>
                          </a:solidFill>
                          <a:latin typeface="Cascadia Mono" pitchFamily="34" charset="0"/>
                          <a:ea typeface="Cascadia Mono" pitchFamily="34" charset="-122"/>
                          <a:cs typeface="Cascadia Mono" pitchFamily="34" charset="-120"/>
                        </a:rPr>
                        <a:t>Status</a:t>
                      </a:r>
                      <a:endParaRPr lang="en-US" sz="1400" dirty="0">
                        <a:latin typeface="Cascadia Mono" charset="0"/>
                        <a:ea typeface="Cascadia Mono" charset="0"/>
                        <a:cs typeface="Cascadia Mono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6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F1C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Total impulse</a:t>
                      </a:r>
                      <a:endParaRPr lang="en-US" sz="1600" dirty="0">
                        <a:latin typeface="Archivo" charset="0"/>
                        <a:ea typeface="Archivo" charset="0"/>
                        <a:cs typeface="Archivo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6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F1C"/>
                          </a:solidFill>
                          <a:latin typeface="Cascadia Mono" pitchFamily="34" charset="0"/>
                          <a:ea typeface="Cascadia Mono" pitchFamily="34" charset="-122"/>
                          <a:cs typeface="Cascadia Mono" pitchFamily="34" charset="-120"/>
                        </a:rPr>
                        <a:t>2,560 N·s</a:t>
                      </a:r>
                      <a:endParaRPr lang="en-US" sz="1600" dirty="0">
                        <a:latin typeface="Cascadia Mono" charset="0"/>
                        <a:ea typeface="Cascadia Mono" charset="0"/>
                        <a:cs typeface="Cascadia Mono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6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F1C"/>
                          </a:solidFill>
                          <a:latin typeface="Cascadia Mono" pitchFamily="34" charset="0"/>
                          <a:ea typeface="Cascadia Mono" pitchFamily="34" charset="-122"/>
                          <a:cs typeface="Cascadia Mono" pitchFamily="34" charset="-120"/>
                        </a:rPr>
                        <a:t>2,611 N·s</a:t>
                      </a:r>
                      <a:endParaRPr lang="en-US" sz="1600" dirty="0">
                        <a:latin typeface="Cascadia Mono" charset="0"/>
                        <a:ea typeface="Cascadia Mono" charset="0"/>
                        <a:cs typeface="Cascadia Mono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6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0F1C"/>
                          </a:solidFill>
                          <a:latin typeface="Cascadia Mono" pitchFamily="34" charset="0"/>
                          <a:ea typeface="Cascadia Mono" pitchFamily="34" charset="-122"/>
                          <a:cs typeface="Cascadia Mono" pitchFamily="34" charset="-120"/>
                        </a:rPr>
                        <a:t>Pass</a:t>
                      </a:r>
                      <a:endParaRPr lang="en-US" sz="1600" dirty="0">
                        <a:latin typeface="Cascadia Mono" charset="0"/>
                        <a:ea typeface="Cascadia Mono" charset="0"/>
                        <a:cs typeface="Cascadia Mono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6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F1C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Burn time</a:t>
                      </a:r>
                      <a:endParaRPr lang="en-US" sz="1600" dirty="0">
                        <a:latin typeface="Archivo" charset="0"/>
                        <a:ea typeface="Archivo" charset="0"/>
                        <a:cs typeface="Archivo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6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F1C"/>
                          </a:solidFill>
                          <a:latin typeface="Cascadia Mono" pitchFamily="34" charset="0"/>
                          <a:ea typeface="Cascadia Mono" pitchFamily="34" charset="-122"/>
                          <a:cs typeface="Cascadia Mono" pitchFamily="34" charset="-120"/>
                        </a:rPr>
                        <a:t>3.2 s</a:t>
                      </a:r>
                      <a:endParaRPr lang="en-US" sz="1600" dirty="0">
                        <a:latin typeface="Cascadia Mono" charset="0"/>
                        <a:ea typeface="Cascadia Mono" charset="0"/>
                        <a:cs typeface="Cascadia Mono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6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F1C"/>
                          </a:solidFill>
                          <a:latin typeface="Cascadia Mono" pitchFamily="34" charset="0"/>
                          <a:ea typeface="Cascadia Mono" pitchFamily="34" charset="-122"/>
                          <a:cs typeface="Cascadia Mono" pitchFamily="34" charset="-120"/>
                        </a:rPr>
                        <a:t>3.4 s</a:t>
                      </a:r>
                      <a:endParaRPr lang="en-US" sz="1600" dirty="0">
                        <a:latin typeface="Cascadia Mono" charset="0"/>
                        <a:ea typeface="Cascadia Mono" charset="0"/>
                        <a:cs typeface="Cascadia Mono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6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0F1C"/>
                          </a:solidFill>
                          <a:latin typeface="Cascadia Mono" pitchFamily="34" charset="0"/>
                          <a:ea typeface="Cascadia Mono" pitchFamily="34" charset="-122"/>
                          <a:cs typeface="Cascadia Mono" pitchFamily="34" charset="-120"/>
                        </a:rPr>
                        <a:t>Pass</a:t>
                      </a:r>
                      <a:endParaRPr lang="en-US" sz="1600" dirty="0">
                        <a:latin typeface="Cascadia Mono" charset="0"/>
                        <a:ea typeface="Cascadia Mono" charset="0"/>
                        <a:cs typeface="Cascadia Mono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6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F1C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Peak thrust</a:t>
                      </a:r>
                      <a:endParaRPr lang="en-US" sz="1600" dirty="0">
                        <a:latin typeface="Archivo" charset="0"/>
                        <a:ea typeface="Archivo" charset="0"/>
                        <a:cs typeface="Archivo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6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F1C"/>
                          </a:solidFill>
                          <a:latin typeface="Cascadia Mono" pitchFamily="34" charset="0"/>
                          <a:ea typeface="Cascadia Mono" pitchFamily="34" charset="-122"/>
                          <a:cs typeface="Cascadia Mono" pitchFamily="34" charset="-120"/>
                        </a:rPr>
                        <a:t>1,100 N</a:t>
                      </a:r>
                      <a:endParaRPr lang="en-US" sz="1600" dirty="0">
                        <a:latin typeface="Cascadia Mono" charset="0"/>
                        <a:ea typeface="Cascadia Mono" charset="0"/>
                        <a:cs typeface="Cascadia Mono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6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F1C"/>
                          </a:solidFill>
                          <a:latin typeface="Cascadia Mono" pitchFamily="34" charset="0"/>
                          <a:ea typeface="Cascadia Mono" pitchFamily="34" charset="-122"/>
                          <a:cs typeface="Cascadia Mono" pitchFamily="34" charset="-120"/>
                        </a:rPr>
                        <a:t>1,182 N</a:t>
                      </a:r>
                      <a:endParaRPr lang="en-US" sz="1600" dirty="0">
                        <a:latin typeface="Cascadia Mono" charset="0"/>
                        <a:ea typeface="Cascadia Mono" charset="0"/>
                        <a:cs typeface="Cascadia Mono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6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B34F0C"/>
                          </a:solidFill>
                          <a:latin typeface="Cascadia Mono" pitchFamily="34" charset="0"/>
                          <a:ea typeface="Cascadia Mono" pitchFamily="34" charset="-122"/>
                          <a:cs typeface="Cascadia Mono" pitchFamily="34" charset="-120"/>
                        </a:rPr>
                        <a:t>Check</a:t>
                      </a:r>
                      <a:endParaRPr lang="en-US" sz="1600" dirty="0">
                        <a:latin typeface="Cascadia Mono" charset="0"/>
                        <a:ea typeface="Cascadia Mono" charset="0"/>
                        <a:cs typeface="Cascadia Mono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6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F1C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Dry mass</a:t>
                      </a:r>
                      <a:endParaRPr lang="en-US" sz="1600" dirty="0">
                        <a:latin typeface="Archivo" charset="0"/>
                        <a:ea typeface="Archivo" charset="0"/>
                        <a:cs typeface="Archivo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6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F1C"/>
                          </a:solidFill>
                          <a:latin typeface="Cascadia Mono" pitchFamily="34" charset="0"/>
                          <a:ea typeface="Cascadia Mono" pitchFamily="34" charset="-122"/>
                          <a:cs typeface="Cascadia Mono" pitchFamily="34" charset="-120"/>
                        </a:rPr>
                        <a:t>1.85 kg</a:t>
                      </a:r>
                      <a:endParaRPr lang="en-US" sz="1600" dirty="0">
                        <a:latin typeface="Cascadia Mono" charset="0"/>
                        <a:ea typeface="Cascadia Mono" charset="0"/>
                        <a:cs typeface="Cascadia Mono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6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F1C"/>
                          </a:solidFill>
                          <a:latin typeface="Cascadia Mono" pitchFamily="34" charset="0"/>
                          <a:ea typeface="Cascadia Mono" pitchFamily="34" charset="-122"/>
                          <a:cs typeface="Cascadia Mono" pitchFamily="34" charset="-120"/>
                        </a:rPr>
                        <a:t>1.79 kg</a:t>
                      </a:r>
                      <a:endParaRPr lang="en-US" sz="1600" dirty="0">
                        <a:latin typeface="Cascadia Mono" charset="0"/>
                        <a:ea typeface="Cascadia Mono" charset="0"/>
                        <a:cs typeface="Cascadia Mono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6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0F1C"/>
                          </a:solidFill>
                          <a:latin typeface="Cascadia Mono" pitchFamily="34" charset="0"/>
                          <a:ea typeface="Cascadia Mono" pitchFamily="34" charset="-122"/>
                          <a:cs typeface="Cascadia Mono" pitchFamily="34" charset="-120"/>
                        </a:rPr>
                        <a:t>Pass</a:t>
                      </a:r>
                      <a:endParaRPr lang="en-US" sz="1600" dirty="0">
                        <a:latin typeface="Cascadia Mono" charset="0"/>
                        <a:ea typeface="Cascadia Mono" charset="0"/>
                        <a:cs typeface="Cascadia Mono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6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7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>
            <p:ph idx="103" type="body" hasCustomPrompt="1"/>
          </p:nvPr>
        </p:nvSpPr>
        <p:spPr>
          <a:xfrm>
            <a:off x="548640" y="1417320"/>
            <a:ext cx="109728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093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079"/>
                </a:solidFill>
                <a:latin typeface="Cascadia Mono"/>
                <a:ea typeface="Cascadia Mono"/>
                <a:cs typeface="Cascadia Mono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0F1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Chart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110642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1"/>
          <p:cNvSpPr/>
          <p:nvPr>
            <p:ph idx="103" type="body" hasCustomPrompt="1"/>
          </p:nvPr>
        </p:nvSpPr>
        <p:spPr>
          <a:xfrm>
            <a:off x="548640" y="1417320"/>
            <a:ext cx="109728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093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079"/>
                </a:solidFill>
                <a:latin typeface="Cascadia Mono"/>
                <a:ea typeface="Cascadia Mono"/>
                <a:cs typeface="Cascadia Mono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0F1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Key numbers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47472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6DAE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8288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350D6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212 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834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6607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specific impulse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97680" y="1554480"/>
            <a:ext cx="347472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6DAE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0" y="18288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34F0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2.1 MPa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2834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6607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chamber pressure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046720" y="1554480"/>
            <a:ext cx="347472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6DAE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1040" y="18288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350D6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18.4 mm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2834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6607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throat diameter</a:t>
            </a:r>
            <a:endParaRPr lang="en-US" sz="1600" dirty="0"/>
          </a:p>
        </p:txBody>
      </p:sp>
      <p:sp>
        <p:nvSpPr>
          <p:cNvPr id="12" name="Text 1"/>
          <p:cNvSpPr/>
          <p:nvPr>
            <p:ph idx="103" type="body" hasCustomPrompt="1"/>
          </p:nvPr>
        </p:nvSpPr>
        <p:spPr>
          <a:xfrm>
            <a:off x="548640" y="1417320"/>
            <a:ext cx="109728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093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079"/>
                </a:solidFill>
                <a:latin typeface="Cascadia Mono"/>
                <a:ea typeface="Cascadia Mono"/>
                <a:cs typeface="Cascadia Mono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0F1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Timeline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554480" y="3063240"/>
            <a:ext cx="9082735" cy="0"/>
          </a:xfrm>
          <a:prstGeom prst="line">
            <a:avLst/>
          </a:prstGeom>
          <a:noFill/>
          <a:ln w="25400">
            <a:solidFill>
              <a:srgbClr val="D6DAE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26464" y="2935224"/>
            <a:ext cx="256032" cy="256032"/>
          </a:xfrm>
          <a:prstGeom prst="ellipse">
            <a:avLst/>
          </a:prstGeom>
          <a:solidFill>
            <a:srgbClr val="DA7C30"/>
          </a:solidFill>
          <a:ln w="25400">
            <a:solidFill>
              <a:srgbClr val="F3F4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22402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0F1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MAR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4290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6607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Design review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97148" y="2935224"/>
            <a:ext cx="256032" cy="256032"/>
          </a:xfrm>
          <a:prstGeom prst="ellipse">
            <a:avLst/>
          </a:prstGeom>
          <a:solidFill>
            <a:srgbClr val="D07D7A"/>
          </a:solidFill>
          <a:ln w="25400">
            <a:solidFill>
              <a:srgbClr val="F3F4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27884" y="22402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0F1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MAY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2727884" y="34290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6607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Static fire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67832" y="2935224"/>
            <a:ext cx="256032" cy="256032"/>
          </a:xfrm>
          <a:prstGeom prst="ellipse">
            <a:avLst/>
          </a:prstGeom>
          <a:solidFill>
            <a:srgbClr val="B983A4"/>
          </a:solidFill>
          <a:ln w="25400">
            <a:solidFill>
              <a:srgbClr val="F3F4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98568" y="22402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0F1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JUL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998568" y="34290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6607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First flight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38515" y="2935224"/>
            <a:ext cx="256032" cy="256032"/>
          </a:xfrm>
          <a:prstGeom prst="ellipse">
            <a:avLst/>
          </a:prstGeom>
          <a:solidFill>
            <a:srgbClr val="A188CB"/>
          </a:solidFill>
          <a:ln w="25400">
            <a:solidFill>
              <a:srgbClr val="F3F4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69251" y="22402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0F1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SEP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7269251" y="34290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6607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Recovery test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509199" y="2935224"/>
            <a:ext cx="256032" cy="256032"/>
          </a:xfrm>
          <a:prstGeom prst="ellipse">
            <a:avLst/>
          </a:prstGeom>
          <a:solidFill>
            <a:srgbClr val="768DF5"/>
          </a:solidFill>
          <a:ln w="25400">
            <a:solidFill>
              <a:srgbClr val="F3F4F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539935" y="22402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0F1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NOV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9539935" y="34290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6607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Level 3 flight</a:t>
            </a:r>
            <a:endParaRPr lang="en-US" sz="1600" dirty="0"/>
          </a:p>
        </p:txBody>
      </p:sp>
      <p:sp>
        <p:nvSpPr>
          <p:cNvPr id="20" name="Text 1"/>
          <p:cNvSpPr/>
          <p:nvPr>
            <p:ph idx="103" type="body" hasCustomPrompt="1"/>
          </p:nvPr>
        </p:nvSpPr>
        <p:spPr>
          <a:xfrm>
            <a:off x="548640" y="1417320"/>
            <a:ext cx="109728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093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079"/>
                </a:solidFill>
                <a:latin typeface="Cascadia Mono"/>
                <a:ea typeface="Cascadia Mono"/>
                <a:cs typeface="Cascadia Mono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3F4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Code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64240" cy="4297680"/>
          </a:xfrm>
          <a:prstGeom prst="roundRect">
            <a:avLst>
              <a:gd name="adj" fmla="val 1277"/>
            </a:avLst>
          </a:prstGeom>
          <a:solidFill>
            <a:srgbClr val="141A2B"/>
          </a:solidFill>
          <a:ln w="12700">
            <a:solidFill>
              <a:srgbClr val="2A324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691640"/>
            <a:ext cx="104241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98A1B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// thrust curve: integrate to total impulse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F3F4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double total_impulse(const double *t, const double *f, size_t n) {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F3F4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double sum = 0.0;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F3F4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for (size_t i = 1; i &lt; n; i++)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F3F4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sum += 0.5 * (f[i] + f[i - 1]) * (t[i] - t[i - 1]);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F3F4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return sum;   /* N·s */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F3F4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093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8A1B8"/>
                </a:solidFill>
                <a:latin typeface="Cascadia Mono"/>
                <a:ea typeface="Cascadia Mono"/>
                <a:cs typeface="Cascadia Mono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1828800"/>
            <a:ext cx="999713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3F4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“Tolerances tight.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3F4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Ambitions loose.”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097280" y="3794760"/>
            <a:ext cx="1097280" cy="54864"/>
          </a:xfrm>
          <a:prstGeom prst="rect">
            <a:avLst/>
          </a:prstGeom>
          <a:solidFill>
            <a:srgbClr val="768DF5"/>
          </a:solidFill>
          <a:ln w="12700">
            <a:solidFill>
              <a:srgbClr val="768D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97280" y="4023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8A1B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Name, role · source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18408" y="2377440"/>
            <a:ext cx="4754880" cy="803189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0" y="374904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3F4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0" y="43434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68D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NeerDPatel@FusionSpace.co · FusionSpace.co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usionSpace">
      <a:dk1>
        <a:srgbClr val="0B0F1C"/>
      </a:dk1>
      <a:lt1>
        <a:srgbClr val="FFFFFF"/>
      </a:lt1>
      <a:dk2>
        <a:srgbClr val="141A2B"/>
      </a:dk2>
      <a:lt2>
        <a:srgbClr val="F3F4F7"/>
      </a:lt2>
      <a:accent1>
        <a:srgbClr val="3350D6"/>
      </a:accent1>
      <a:accent2>
        <a:srgbClr val="B34F0C"/>
      </a:accent2>
      <a:accent3>
        <a:srgbClr val="768DF5"/>
      </a:accent3>
      <a:accent4>
        <a:srgbClr val="DA7C30"/>
      </a:accent4>
      <a:accent5>
        <a:srgbClr val="566079"/>
      </a:accent5>
      <a:accent6>
        <a:srgbClr val="98A1B8"/>
      </a:accent6>
      <a:hlink>
        <a:srgbClr val="3350D6"/>
      </a:hlink>
      <a:folHlink>
        <a:srgbClr val="566079"/>
      </a:folHlink>
    </a:clrScheme>
    <a:fontScheme name="Office">
      <a:majorFont>
        <a:latin typeface="Cascadia Mon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chiv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FusionSpace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FusionSpace slide template</dc:title>
  <dc:subject>PptxGenJS Presentation</dc:subject>
  <dc:creator>Neer Patel</dc:creator>
  <cp:lastModifiedBy>Neer Patel</cp:lastModifiedBy>
  <cp:revision>1</cp:revision>
  <dcterms:created xsi:type="dcterms:W3CDTF">2026-10-01T00:00:00Z</dcterms:created>
  <dcterms:modified xsi:type="dcterms:W3CDTF">2026-10-01T00:00:00Z</dcterms:modified>
</cp:coreProperties>
</file>